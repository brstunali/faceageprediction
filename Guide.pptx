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43B8D1-D25A-09F8-C0F4-66D6FFB047B3}" v="507" dt="2025-12-11T00:19:17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3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3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1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4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5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6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3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91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1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7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Resim 5" descr="metin, ekran görüntüsü, kişi, şahıs, sanat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0F6D85F-9C03-A5D6-627F-0D4E3D4CF7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3424" r="46798"/>
          <a:stretch>
            <a:fillRect/>
          </a:stretch>
        </p:blipFill>
        <p:spPr>
          <a:xfrm>
            <a:off x="-1" y="-4"/>
            <a:ext cx="6096000" cy="6858001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5400" dirty="0">
                <a:solidFill>
                  <a:srgbClr val="FFFFFF"/>
                </a:solidFill>
              </a:rPr>
              <a:t>Age </a:t>
            </a:r>
            <a:r>
              <a:rPr lang="tr-TR" sz="5400" dirty="0" err="1">
                <a:solidFill>
                  <a:srgbClr val="FFFFFF"/>
                </a:solidFill>
              </a:rPr>
              <a:t>Prediction</a:t>
            </a:r>
            <a:r>
              <a:rPr lang="tr-TR" sz="5400" dirty="0">
                <a:solidFill>
                  <a:srgbClr val="FFFFFF"/>
                </a:solidFill>
              </a:rPr>
              <a:t> Model Guide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egrade yüzeyi tasarımında pastel renkleri">
            <a:extLst>
              <a:ext uri="{FF2B5EF4-FFF2-40B4-BE49-F238E27FC236}">
                <a16:creationId xmlns:a16="http://schemas.microsoft.com/office/drawing/2014/main" id="{5C1F8A2C-DF60-5062-C5D6-E782BF2BD9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9299" r="31367" b="-2"/>
          <a:stretch>
            <a:fillRect/>
          </a:stretch>
        </p:blipFill>
        <p:spPr>
          <a:xfrm>
            <a:off x="6095999" y="-4"/>
            <a:ext cx="6096000" cy="6858001"/>
          </a:xfrm>
          <a:prstGeom prst="rect">
            <a:avLst/>
          </a:prstGeom>
        </p:spPr>
      </p:pic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tr-TR" dirty="0">
                <a:solidFill>
                  <a:srgbClr val="FFFFFF"/>
                </a:solidFill>
              </a:rPr>
              <a:t>Ali Barış Tunalı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16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406637-3FB3-B513-EFA7-56C99878A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Big</a:t>
            </a:r>
            <a:r>
              <a:rPr lang="tr-TR" dirty="0"/>
              <a:t> </a:t>
            </a:r>
            <a:r>
              <a:rPr lang="tr-TR" dirty="0" err="1"/>
              <a:t>system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DA24332-79C6-0DF0-DFF4-691D7B0B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351" y="1998037"/>
            <a:ext cx="1115568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 err="1"/>
              <a:t>It</a:t>
            </a:r>
            <a:r>
              <a:rPr lang="tr-TR" dirty="0"/>
              <a:t> is </a:t>
            </a:r>
            <a:r>
              <a:rPr lang="tr-TR" dirty="0" err="1"/>
              <a:t>big</a:t>
            </a:r>
            <a:r>
              <a:rPr lang="tr-TR" dirty="0"/>
              <a:t> </a:t>
            </a:r>
            <a:r>
              <a:rPr lang="tr-TR" dirty="0" err="1"/>
              <a:t>digital</a:t>
            </a:r>
            <a:r>
              <a:rPr lang="tr-TR" dirty="0"/>
              <a:t> </a:t>
            </a:r>
            <a:r>
              <a:rPr lang="tr-TR" dirty="0" err="1"/>
              <a:t>image</a:t>
            </a:r>
            <a:r>
              <a:rPr lang="tr-TR" dirty="0"/>
              <a:t> </a:t>
            </a:r>
            <a:r>
              <a:rPr lang="tr-TR" dirty="0" err="1"/>
              <a:t>processing</a:t>
            </a:r>
            <a:r>
              <a:rPr lang="tr-TR" dirty="0"/>
              <a:t> </a:t>
            </a:r>
            <a:r>
              <a:rPr lang="tr-TR" dirty="0" err="1"/>
              <a:t>algorithm</a:t>
            </a:r>
            <a:r>
              <a:rPr lang="tr-TR" dirty="0"/>
              <a:t>,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human</a:t>
            </a:r>
            <a:r>
              <a:rPr lang="tr-TR" dirty="0"/>
              <a:t> is </a:t>
            </a:r>
            <a:r>
              <a:rPr lang="tr-TR" dirty="0" err="1"/>
              <a:t>adult</a:t>
            </a:r>
            <a:r>
              <a:rPr lang="tr-TR" dirty="0"/>
              <a:t>, </a:t>
            </a:r>
            <a:r>
              <a:rPr lang="tr-TR" dirty="0" err="1"/>
              <a:t>algorithm</a:t>
            </a:r>
            <a:r>
              <a:rPr lang="tr-TR" dirty="0"/>
              <a:t> </a:t>
            </a:r>
            <a:r>
              <a:rPr lang="tr-TR" dirty="0" err="1"/>
              <a:t>detect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predicting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age</a:t>
            </a:r>
            <a:r>
              <a:rPr lang="tr-TR" dirty="0"/>
              <a:t> </a:t>
            </a:r>
          </a:p>
          <a:p>
            <a:pPr marL="0" indent="0">
              <a:buNone/>
            </a:pP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is </a:t>
            </a:r>
            <a:r>
              <a:rPr lang="tr-TR" dirty="0" err="1"/>
              <a:t>going</a:t>
            </a:r>
            <a:r>
              <a:rPr lang="tr-TR" dirty="0"/>
              <a:t> on. Model </a:t>
            </a:r>
            <a:r>
              <a:rPr lang="tr-TR" dirty="0" err="1"/>
              <a:t>predicts</a:t>
            </a:r>
            <a:r>
              <a:rPr lang="tr-TR" dirty="0"/>
              <a:t> </a:t>
            </a:r>
            <a:r>
              <a:rPr lang="tr-TR" dirty="0" err="1"/>
              <a:t>according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face</a:t>
            </a:r>
            <a:r>
              <a:rPr lang="tr-TR" dirty="0"/>
              <a:t> </a:t>
            </a:r>
            <a:r>
              <a:rPr lang="tr-TR" dirty="0" err="1"/>
              <a:t>picture</a:t>
            </a:r>
          </a:p>
        </p:txBody>
      </p:sp>
      <p:pic>
        <p:nvPicPr>
          <p:cNvPr id="4" name="Resim 3" descr="insan yüzü, kişi, şahıs, iç mekan, kaş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02EADF7-1113-4333-31E5-DE2F0EDEF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23" y="2987524"/>
            <a:ext cx="1977765" cy="2636762"/>
          </a:xfrm>
          <a:prstGeom prst="rect">
            <a:avLst/>
          </a:prstGeom>
        </p:spPr>
      </p:pic>
      <p:pic>
        <p:nvPicPr>
          <p:cNvPr id="5" name="Resim 4" descr="metin, insan yüzü, kişi, şahıs, kağıt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76A3C5C-F97F-8A30-2B47-93623ED34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444" y="3002491"/>
            <a:ext cx="3247874" cy="1300542"/>
          </a:xfrm>
          <a:prstGeom prst="rect">
            <a:avLst/>
          </a:prstGeom>
        </p:spPr>
      </p:pic>
      <p:pic>
        <p:nvPicPr>
          <p:cNvPr id="6" name="Resim 5" descr="metin, yazı tip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E951B6E-4FD1-FEE9-B221-6EEB39334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954" y="4303234"/>
            <a:ext cx="4029075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3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C5FE1C-310B-4F6B-A44A-BC43430A2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sim 4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7AFADA-DFC5-AF9B-6149-14F81E4A9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271" y="508091"/>
            <a:ext cx="4053747" cy="2797086"/>
          </a:xfrm>
          <a:prstGeom prst="rect">
            <a:avLst/>
          </a:prstGeom>
        </p:spPr>
      </p:pic>
      <p:pic>
        <p:nvPicPr>
          <p:cNvPr id="4" name="Resim 3" descr="metin, ekran görüntüsü, yazı tipi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8D79887-801F-04DC-D6ED-2A5CE9FB25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698" b="-2"/>
          <a:stretch>
            <a:fillRect/>
          </a:stretch>
        </p:blipFill>
        <p:spPr>
          <a:xfrm>
            <a:off x="508644" y="3548850"/>
            <a:ext cx="3920642" cy="2797086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F62DE6-E2BF-D264-DCA9-54ECAD2BD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3557016"/>
            <a:ext cx="5010912" cy="27980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 dirty="0" err="1"/>
              <a:t>Accuracy</a:t>
            </a:r>
            <a:r>
              <a:rPr lang="tr-TR" dirty="0"/>
              <a:t> </a:t>
            </a:r>
            <a:r>
              <a:rPr lang="tr-TR" dirty="0" err="1"/>
              <a:t>score</a:t>
            </a:r>
            <a:r>
              <a:rPr lang="tr-TR" dirty="0"/>
              <a:t> of </a:t>
            </a:r>
            <a:r>
              <a:rPr lang="tr-TR" dirty="0" err="1"/>
              <a:t>algorithm</a:t>
            </a:r>
            <a:r>
              <a:rPr lang="tr-TR" dirty="0"/>
              <a:t>.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calculate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choose</a:t>
            </a:r>
            <a:r>
              <a:rPr lang="tr-TR" dirty="0"/>
              <a:t> </a:t>
            </a:r>
            <a:r>
              <a:rPr lang="tr-TR" dirty="0" err="1"/>
              <a:t>random</a:t>
            </a:r>
            <a:r>
              <a:rPr lang="tr-TR" dirty="0"/>
              <a:t> ten </a:t>
            </a:r>
            <a:r>
              <a:rPr lang="tr-TR" dirty="0" err="1"/>
              <a:t>pictures</a:t>
            </a:r>
            <a:r>
              <a:rPr lang="tr-TR" dirty="0"/>
              <a:t> of </a:t>
            </a:r>
            <a:r>
              <a:rPr lang="tr-TR" dirty="0" err="1"/>
              <a:t>six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age</a:t>
            </a:r>
            <a:r>
              <a:rPr lang="tr-TR" dirty="0"/>
              <a:t> </a:t>
            </a:r>
            <a:r>
              <a:rPr lang="tr-TR" dirty="0" err="1"/>
              <a:t>range</a:t>
            </a:r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22104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037FDD-9E70-7A8A-3BDD-7C936033D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Resim 5" descr="metin, insan yüzü, oğlan, bebe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A660B80-D4A1-702F-CAE7-A31D7DE17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9" y="502853"/>
            <a:ext cx="2692148" cy="177681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96141AC-8EB0-E9A2-C2F4-DC6B0DCC9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7322" y="508090"/>
            <a:ext cx="7091771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sim 4" descr="metin, insan yüzü, kadı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8377471-49B6-8A03-C25F-A8E6FC806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69" y="2525918"/>
            <a:ext cx="2493778" cy="1776817"/>
          </a:xfrm>
          <a:prstGeom prst="rect">
            <a:avLst/>
          </a:prstGeom>
        </p:spPr>
      </p:pic>
      <p:pic>
        <p:nvPicPr>
          <p:cNvPr id="4" name="Resim 3" descr="metin, insan yüzü, kişi, şahıs, kadı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3CA8EAF-DD33-BF83-756E-1460A3E4A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07" y="4568145"/>
            <a:ext cx="1459075" cy="1818163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993BCB9-C873-52A6-7BF5-AC89D391C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424" y="2578608"/>
            <a:ext cx="7150608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tr-TR" dirty="0" err="1">
                <a:ea typeface="+mn-lt"/>
                <a:cs typeface="+mn-lt"/>
              </a:rPr>
              <a:t>We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used</a:t>
            </a:r>
            <a:r>
              <a:rPr lang="tr-TR" dirty="0">
                <a:ea typeface="+mn-lt"/>
                <a:cs typeface="+mn-lt"/>
              </a:rPr>
              <a:t> a </a:t>
            </a:r>
            <a:r>
              <a:rPr lang="tr-TR" dirty="0" err="1">
                <a:ea typeface="+mn-lt"/>
                <a:cs typeface="+mn-lt"/>
              </a:rPr>
              <a:t>photo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database</a:t>
            </a:r>
            <a:r>
              <a:rPr lang="tr-TR" dirty="0">
                <a:ea typeface="+mn-lt"/>
                <a:cs typeface="+mn-lt"/>
              </a:rPr>
              <a:t> of 10,000 </a:t>
            </a:r>
            <a:r>
              <a:rPr lang="tr-TR" dirty="0" err="1">
                <a:ea typeface="+mn-lt"/>
                <a:cs typeface="+mn-lt"/>
              </a:rPr>
              <a:t>images</a:t>
            </a:r>
            <a:r>
              <a:rPr lang="tr-TR" dirty="0">
                <a:ea typeface="+mn-lt"/>
                <a:cs typeface="+mn-lt"/>
              </a:rPr>
              <a:t> of </a:t>
            </a:r>
            <a:r>
              <a:rPr lang="tr-TR" dirty="0" err="1">
                <a:ea typeface="+mn-lt"/>
                <a:cs typeface="+mn-lt"/>
              </a:rPr>
              <a:t>people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aged</a:t>
            </a:r>
            <a:r>
              <a:rPr lang="tr-TR" dirty="0">
                <a:ea typeface="+mn-lt"/>
                <a:cs typeface="+mn-lt"/>
              </a:rPr>
              <a:t> 0-110 </a:t>
            </a:r>
            <a:r>
              <a:rPr lang="tr-TR" dirty="0" err="1">
                <a:ea typeface="+mn-lt"/>
                <a:cs typeface="+mn-lt"/>
              </a:rPr>
              <a:t>to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train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this</a:t>
            </a:r>
            <a:r>
              <a:rPr lang="tr-TR" dirty="0">
                <a:ea typeface="+mn-lt"/>
                <a:cs typeface="+mn-lt"/>
              </a:rPr>
              <a:t> model.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8294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68BD8F-A7CB-08AC-620B-E0FE54A2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BA2B5CE-D539-B1D4-1108-99666B528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Resim 3" descr="metin, ekran görüntüsü, menü, tipograf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128D61A-41FE-A9F0-48B9-6E31A30C3E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49" r="-2" b="23832"/>
          <a:stretch>
            <a:fillRect/>
          </a:stretch>
        </p:blipFill>
        <p:spPr>
          <a:xfrm>
            <a:off x="517870" y="2578455"/>
            <a:ext cx="2641791" cy="3826001"/>
          </a:xfrm>
          <a:prstGeom prst="rect">
            <a:avLst/>
          </a:prstGeom>
        </p:spPr>
      </p:pic>
      <p:pic>
        <p:nvPicPr>
          <p:cNvPr id="5" name="Resim 4" descr="metin, diyagram, çizg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750AE7E-7D39-8AC9-50DB-9EE3AA471E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96" r="21135" b="-1"/>
          <a:stretch>
            <a:fillRect/>
          </a:stretch>
        </p:blipFill>
        <p:spPr>
          <a:xfrm>
            <a:off x="3373527" y="2578608"/>
            <a:ext cx="2641791" cy="3829656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5714BC-97A9-7BD5-E4A6-E78DE6D4E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92" y="2578608"/>
            <a:ext cx="5330952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accuracy</a:t>
            </a:r>
            <a:r>
              <a:rPr lang="tr-TR" dirty="0"/>
              <a:t> </a:t>
            </a:r>
            <a:r>
              <a:rPr lang="tr-TR" dirty="0" err="1"/>
              <a:t>score</a:t>
            </a:r>
            <a:r>
              <a:rPr lang="tr-TR" dirty="0"/>
              <a:t>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58806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7F0FCF-81F1-26B5-D1A9-2DA79A708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Last</a:t>
            </a:r>
            <a:r>
              <a:rPr lang="tr-TR" dirty="0"/>
              <a:t> </a:t>
            </a:r>
            <a:r>
              <a:rPr lang="tr-TR" dirty="0" err="1"/>
              <a:t>comment</a:t>
            </a:r>
            <a:r>
              <a:rPr lang="tr-TR" dirty="0"/>
              <a:t> of model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D54A4B-B11E-C6B1-F42F-038E78734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/>
            <a:r>
              <a:rPr lang="tr-TR" b="1"/>
              <a:t>Model </a:t>
            </a:r>
            <a:r>
              <a:rPr lang="tr-TR" b="1" err="1"/>
              <a:t>Performance</a:t>
            </a:r>
            <a:r>
              <a:rPr lang="tr-TR" b="1"/>
              <a:t> </a:t>
            </a:r>
            <a:r>
              <a:rPr lang="tr-TR" b="1" err="1"/>
              <a:t>Assessment</a:t>
            </a:r>
            <a:r>
              <a:rPr lang="tr-TR" b="1"/>
              <a:t> by Age Group</a:t>
            </a:r>
            <a:endParaRPr lang="tr-TR"/>
          </a:p>
          <a:p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model </a:t>
            </a:r>
            <a:r>
              <a:rPr lang="tr-TR" err="1">
                <a:ea typeface="+mn-lt"/>
                <a:cs typeface="+mn-lt"/>
              </a:rPr>
              <a:t>demonstrates</a:t>
            </a:r>
            <a:r>
              <a:rPr lang="tr-TR">
                <a:ea typeface="+mn-lt"/>
                <a:cs typeface="+mn-lt"/>
              </a:rPr>
              <a:t> strong performance in early-age predictions, </a:t>
            </a:r>
            <a:r>
              <a:rPr lang="tr-TR" err="1">
                <a:ea typeface="+mn-lt"/>
                <a:cs typeface="+mn-lt"/>
              </a:rPr>
              <a:t>with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b="1">
                <a:ea typeface="+mn-lt"/>
                <a:cs typeface="+mn-lt"/>
              </a:rPr>
              <a:t>0–10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group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exhibiting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lowest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error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rates</a:t>
            </a:r>
            <a:r>
              <a:rPr lang="tr-TR">
                <a:ea typeface="+mn-lt"/>
                <a:cs typeface="+mn-lt"/>
              </a:rPr>
              <a:t>. </a:t>
            </a:r>
            <a:r>
              <a:rPr lang="tr-TR" err="1">
                <a:ea typeface="+mn-lt"/>
                <a:cs typeface="+mn-lt"/>
              </a:rPr>
              <a:t>This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indicates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that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model </a:t>
            </a:r>
            <a:r>
              <a:rPr lang="tr-TR" err="1">
                <a:ea typeface="+mn-lt"/>
                <a:cs typeface="+mn-lt"/>
              </a:rPr>
              <a:t>captures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visual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cues</a:t>
            </a:r>
            <a:r>
              <a:rPr lang="tr-TR">
                <a:ea typeface="+mn-lt"/>
                <a:cs typeface="+mn-lt"/>
              </a:rPr>
              <a:t> of </a:t>
            </a:r>
            <a:r>
              <a:rPr lang="tr-TR" err="1">
                <a:ea typeface="+mn-lt"/>
                <a:cs typeface="+mn-lt"/>
              </a:rPr>
              <a:t>childhood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features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reliably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with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high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precision</a:t>
            </a:r>
            <a:r>
              <a:rPr lang="tr-TR">
                <a:ea typeface="+mn-lt"/>
                <a:cs typeface="+mn-lt"/>
              </a:rPr>
              <a:t>.</a:t>
            </a:r>
            <a:endParaRPr lang="tr-TR"/>
          </a:p>
          <a:p>
            <a:r>
              <a:rPr lang="tr-TR" err="1">
                <a:ea typeface="+mn-lt"/>
                <a:cs typeface="+mn-lt"/>
              </a:rPr>
              <a:t>In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contrast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prediction</a:t>
            </a:r>
            <a:r>
              <a:rPr lang="tr-TR">
                <a:ea typeface="+mn-lt"/>
                <a:cs typeface="+mn-lt"/>
              </a:rPr>
              <a:t> accuracy decreases in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b="1">
                <a:ea typeface="+mn-lt"/>
                <a:cs typeface="+mn-lt"/>
              </a:rPr>
              <a:t>18–30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b="1">
                <a:ea typeface="+mn-lt"/>
                <a:cs typeface="+mn-lt"/>
              </a:rPr>
              <a:t>30–50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age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groups</a:t>
            </a:r>
            <a:r>
              <a:rPr lang="tr-TR">
                <a:ea typeface="+mn-lt"/>
                <a:cs typeface="+mn-lt"/>
              </a:rPr>
              <a:t>. </a:t>
            </a:r>
            <a:r>
              <a:rPr lang="tr-TR" err="1">
                <a:ea typeface="+mn-lt"/>
                <a:cs typeface="+mn-lt"/>
              </a:rPr>
              <a:t>These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ranges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typically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involve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greater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variability</a:t>
            </a:r>
            <a:r>
              <a:rPr lang="tr-TR">
                <a:ea typeface="+mn-lt"/>
                <a:cs typeface="+mn-lt"/>
              </a:rPr>
              <a:t> in </a:t>
            </a:r>
            <a:r>
              <a:rPr lang="tr-TR" err="1">
                <a:ea typeface="+mn-lt"/>
                <a:cs typeface="+mn-lt"/>
              </a:rPr>
              <a:t>facial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appearance</a:t>
            </a:r>
            <a:r>
              <a:rPr lang="tr-TR">
                <a:ea typeface="+mn-lt"/>
                <a:cs typeface="+mn-lt"/>
              </a:rPr>
              <a:t>—</a:t>
            </a:r>
            <a:r>
              <a:rPr lang="tr-TR" err="1">
                <a:ea typeface="+mn-lt"/>
                <a:cs typeface="+mn-lt"/>
              </a:rPr>
              <a:t>due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to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lifestyle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factors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grooming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patterns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and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slower</a:t>
            </a:r>
            <a:r>
              <a:rPr lang="tr-TR">
                <a:ea typeface="+mn-lt"/>
                <a:cs typeface="+mn-lt"/>
              </a:rPr>
              <a:t> but </a:t>
            </a:r>
            <a:r>
              <a:rPr lang="tr-TR" err="1">
                <a:ea typeface="+mn-lt"/>
                <a:cs typeface="+mn-lt"/>
              </a:rPr>
              <a:t>more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complex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aging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effects</a:t>
            </a:r>
            <a:r>
              <a:rPr lang="tr-TR">
                <a:ea typeface="+mn-lt"/>
                <a:cs typeface="+mn-lt"/>
              </a:rPr>
              <a:t>—</a:t>
            </a:r>
            <a:r>
              <a:rPr lang="tr-TR" err="1">
                <a:ea typeface="+mn-lt"/>
                <a:cs typeface="+mn-lt"/>
              </a:rPr>
              <a:t>which</a:t>
            </a:r>
            <a:r>
              <a:rPr lang="tr-TR">
                <a:ea typeface="+mn-lt"/>
                <a:cs typeface="+mn-lt"/>
              </a:rPr>
              <a:t> can </a:t>
            </a:r>
            <a:r>
              <a:rPr lang="tr-TR" err="1">
                <a:ea typeface="+mn-lt"/>
                <a:cs typeface="+mn-lt"/>
              </a:rPr>
              <a:t>lead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to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higher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prediction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uncertainty</a:t>
            </a:r>
            <a:r>
              <a:rPr lang="tr-TR">
                <a:ea typeface="+mn-lt"/>
                <a:cs typeface="+mn-lt"/>
              </a:rPr>
              <a:t>.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b="1">
                <a:ea typeface="+mn-lt"/>
                <a:cs typeface="+mn-lt"/>
              </a:rPr>
              <a:t>30–50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group</a:t>
            </a:r>
            <a:r>
              <a:rPr lang="tr-TR">
                <a:ea typeface="+mn-lt"/>
                <a:cs typeface="+mn-lt"/>
              </a:rPr>
              <a:t>, in </a:t>
            </a:r>
            <a:r>
              <a:rPr lang="tr-TR" err="1">
                <a:ea typeface="+mn-lt"/>
                <a:cs typeface="+mn-lt"/>
              </a:rPr>
              <a:t>particular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shows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largest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deviation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suggesting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that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mid-age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representation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within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training</a:t>
            </a:r>
            <a:r>
              <a:rPr lang="tr-TR">
                <a:ea typeface="+mn-lt"/>
                <a:cs typeface="+mn-lt"/>
              </a:rPr>
              <a:t> data </a:t>
            </a:r>
            <a:r>
              <a:rPr lang="tr-TR" err="1">
                <a:ea typeface="+mn-lt"/>
                <a:cs typeface="+mn-lt"/>
              </a:rPr>
              <a:t>may</a:t>
            </a:r>
            <a:r>
              <a:rPr lang="tr-TR">
                <a:ea typeface="+mn-lt"/>
                <a:cs typeface="+mn-lt"/>
              </a:rPr>
              <a:t> be </a:t>
            </a:r>
            <a:r>
              <a:rPr lang="tr-TR" err="1">
                <a:ea typeface="+mn-lt"/>
                <a:cs typeface="+mn-lt"/>
              </a:rPr>
              <a:t>less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consistent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or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insufficiently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distinctive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for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model.</a:t>
            </a:r>
            <a:endParaRPr lang="tr-TR"/>
          </a:p>
          <a:p>
            <a:r>
              <a:rPr lang="tr-TR" err="1">
                <a:ea typeface="+mn-lt"/>
                <a:cs typeface="+mn-lt"/>
              </a:rPr>
              <a:t>Interestingly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error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levels</a:t>
            </a:r>
            <a:r>
              <a:rPr lang="tr-TR">
                <a:ea typeface="+mn-lt"/>
                <a:cs typeface="+mn-lt"/>
              </a:rPr>
              <a:t> begin to stabilize again in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b="1">
                <a:ea typeface="+mn-lt"/>
                <a:cs typeface="+mn-lt"/>
              </a:rPr>
              <a:t>50–70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b="1">
                <a:ea typeface="+mn-lt"/>
                <a:cs typeface="+mn-lt"/>
              </a:rPr>
              <a:t>70–90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ranges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likely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because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facial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aging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markers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become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more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pronounced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easier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for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model </a:t>
            </a:r>
            <a:r>
              <a:rPr lang="tr-TR" err="1">
                <a:ea typeface="+mn-lt"/>
                <a:cs typeface="+mn-lt"/>
              </a:rPr>
              <a:t>to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interpret</a:t>
            </a:r>
            <a:r>
              <a:rPr lang="tr-TR">
                <a:ea typeface="+mn-lt"/>
                <a:cs typeface="+mn-lt"/>
              </a:rPr>
              <a:t>. </a:t>
            </a:r>
            <a:r>
              <a:rPr lang="tr-TR" err="1">
                <a:ea typeface="+mn-lt"/>
                <a:cs typeface="+mn-lt"/>
              </a:rPr>
              <a:t>However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variability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increases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once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more</a:t>
            </a:r>
            <a:r>
              <a:rPr lang="tr-TR">
                <a:ea typeface="+mn-lt"/>
                <a:cs typeface="+mn-lt"/>
              </a:rPr>
              <a:t> in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b="1">
                <a:ea typeface="+mn-lt"/>
                <a:cs typeface="+mn-lt"/>
              </a:rPr>
              <a:t>90–110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group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where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age-related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features</a:t>
            </a:r>
            <a:r>
              <a:rPr lang="tr-TR">
                <a:ea typeface="+mn-lt"/>
                <a:cs typeface="+mn-lt"/>
              </a:rPr>
              <a:t> can be </a:t>
            </a:r>
            <a:r>
              <a:rPr lang="tr-TR" err="1">
                <a:ea typeface="+mn-lt"/>
                <a:cs typeface="+mn-lt"/>
              </a:rPr>
              <a:t>highly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diverse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and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harder</a:t>
            </a:r>
            <a:r>
              <a:rPr lang="tr-TR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to</a:t>
            </a:r>
            <a:r>
              <a:rPr lang="tr-TR">
                <a:ea typeface="+mn-lt"/>
                <a:cs typeface="+mn-lt"/>
              </a:rPr>
              <a:t> model </a:t>
            </a:r>
            <a:r>
              <a:rPr lang="tr-TR" err="1">
                <a:ea typeface="+mn-lt"/>
                <a:cs typeface="+mn-lt"/>
              </a:rPr>
              <a:t>linearly</a:t>
            </a:r>
            <a:r>
              <a:rPr lang="tr-TR">
                <a:ea typeface="+mn-lt"/>
                <a:cs typeface="+mn-lt"/>
              </a:rPr>
              <a:t>.</a:t>
            </a:r>
            <a:endParaRPr lang="tr-TR"/>
          </a:p>
          <a:p>
            <a:r>
              <a:rPr lang="tr-TR" err="1">
                <a:ea typeface="+mn-lt"/>
                <a:cs typeface="+mn-lt"/>
              </a:rPr>
              <a:t>Overall</a:t>
            </a:r>
            <a:r>
              <a:rPr lang="tr-TR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the</a:t>
            </a:r>
            <a:r>
              <a:rPr lang="tr-TR">
                <a:ea typeface="+mn-lt"/>
                <a:cs typeface="+mn-lt"/>
              </a:rPr>
              <a:t> model performs best at the extremes of the age spectrum but becomes less reliable in mid-adulthood, highlighting a need for improved feature representation or additional training data in the 18–50 range.</a:t>
            </a:r>
            <a:endParaRPr lang="tr-TR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2761177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299</Words>
  <Application>Microsoft Office PowerPoint</Application>
  <PresentationFormat>Geniş ekran</PresentationFormat>
  <Paragraphs>14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9" baseType="lpstr">
      <vt:lpstr>Arial</vt:lpstr>
      <vt:lpstr>Bierstadt</vt:lpstr>
      <vt:lpstr>GestaltVTI</vt:lpstr>
      <vt:lpstr>Age Prediction Model Guide</vt:lpstr>
      <vt:lpstr>Big system</vt:lpstr>
      <vt:lpstr>PowerPoint Sunusu</vt:lpstr>
      <vt:lpstr>PowerPoint Sunusu</vt:lpstr>
      <vt:lpstr>PowerPoint Sunusu</vt:lpstr>
      <vt:lpstr>Last comment of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barış tunalı</dc:creator>
  <cp:lastModifiedBy>barış tunalı</cp:lastModifiedBy>
  <cp:revision>142</cp:revision>
  <dcterms:created xsi:type="dcterms:W3CDTF">2025-12-10T23:46:19Z</dcterms:created>
  <dcterms:modified xsi:type="dcterms:W3CDTF">2025-12-17T14:19:21Z</dcterms:modified>
</cp:coreProperties>
</file>